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  <p:embeddedFont>
      <p:font typeface="Sora SemiBold"/>
      <p:regular r:id="rId17"/>
      <p:bold r:id="rId18"/>
    </p:embeddedFont>
    <p:embeddedFont>
      <p:font typeface="IBM Plex Sans Medium"/>
      <p:regular r:id="rId19"/>
      <p:bold r:id="rId20"/>
      <p:italic r:id="rId21"/>
      <p:boldItalic r:id="rId22"/>
    </p:embeddedFont>
    <p:embeddedFont>
      <p:font typeface="Sora Light"/>
      <p:regular r:id="rId23"/>
      <p:bold r:id="rId24"/>
    </p:embeddedFont>
    <p:embeddedFont>
      <p:font typeface="Sora ExtraLight"/>
      <p:regular r:id="rId25"/>
      <p:bold r:id="rId26"/>
    </p:embeddedFont>
    <p:embeddedFont>
      <p:font typeface="Sora"/>
      <p:regular r:id="rId27"/>
      <p:bold r:id="rId28"/>
    </p:embeddedFont>
    <p:embeddedFont>
      <p:font typeface="Sora Medium"/>
      <p:regular r:id="rId29"/>
      <p:bold r:id="rId30"/>
    </p:embeddedFont>
    <p:embeddedFont>
      <p:font typeface="IBM Plex Sa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regular.fntdata"/><Relationship Id="rId30" Type="http://schemas.openxmlformats.org/officeDocument/2006/relationships/font" Target="fonts/SoraMedium-bold.fntdata"/><Relationship Id="rId33" Type="http://schemas.openxmlformats.org/officeDocument/2006/relationships/font" Target="fonts/IBMPlexSansSemiBold-italic.fntdata"/><Relationship Id="rId32" Type="http://schemas.openxmlformats.org/officeDocument/2006/relationships/font" Target="fonts/IBMPlexSansSemiBold-bold.fntdata"/><Relationship Id="rId34" Type="http://schemas.openxmlformats.org/officeDocument/2006/relationships/font" Target="fonts/IBMPlexSansSemiBold-boldItalic.fntdata"/><Relationship Id="rId20" Type="http://schemas.openxmlformats.org/officeDocument/2006/relationships/font" Target="fonts/IBMPlexSansMedium-bold.fntdata"/><Relationship Id="rId22" Type="http://schemas.openxmlformats.org/officeDocument/2006/relationships/font" Target="fonts/IBMPlexSansMedium-boldItalic.fntdata"/><Relationship Id="rId21" Type="http://schemas.openxmlformats.org/officeDocument/2006/relationships/font" Target="fonts/IBMPlexSansMedium-italic.fntdata"/><Relationship Id="rId24" Type="http://schemas.openxmlformats.org/officeDocument/2006/relationships/font" Target="fonts/SoraLight-bold.fntdata"/><Relationship Id="rId23" Type="http://schemas.openxmlformats.org/officeDocument/2006/relationships/font" Target="fonts/SoraLight-regular.fntdata"/><Relationship Id="rId26" Type="http://schemas.openxmlformats.org/officeDocument/2006/relationships/font" Target="fonts/SoraExtraLight-bold.fntdata"/><Relationship Id="rId25" Type="http://schemas.openxmlformats.org/officeDocument/2006/relationships/font" Target="fonts/SoraExtraLight-regular.fntdata"/><Relationship Id="rId28" Type="http://schemas.openxmlformats.org/officeDocument/2006/relationships/font" Target="fonts/Sora-bold.fntdata"/><Relationship Id="rId27" Type="http://schemas.openxmlformats.org/officeDocument/2006/relationships/font" Target="fonts/Sora-regular.fntdata"/><Relationship Id="rId29" Type="http://schemas.openxmlformats.org/officeDocument/2006/relationships/font" Target="fonts/SoraMedium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regular.fntdata"/><Relationship Id="rId12" Type="http://schemas.openxmlformats.org/officeDocument/2006/relationships/slide" Target="slides/slide7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SoraSemiBold-regular.fntdata"/><Relationship Id="rId16" Type="http://schemas.openxmlformats.org/officeDocument/2006/relationships/font" Target="fonts/IBMPlexSans-boldItalic.fntdata"/><Relationship Id="rId19" Type="http://schemas.openxmlformats.org/officeDocument/2006/relationships/font" Target="fonts/IBMPlexSansMedium-regular.fntdata"/><Relationship Id="rId18" Type="http://schemas.openxmlformats.org/officeDocument/2006/relationships/font" Target="fonts/Sora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baaf82c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baaf82c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abaaf82ce8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abaaf82ce8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abaaf82ce8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abaaf82ce8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9615E"/>
                </a:solidFill>
                <a:latin typeface="Sora"/>
                <a:ea typeface="Sora"/>
                <a:cs typeface="Sora"/>
                <a:sym typeface="Sora"/>
              </a:rPr>
              <a:t>How has the fire season changed over time? </a:t>
            </a:r>
            <a:endParaRPr sz="1200">
              <a:solidFill>
                <a:srgbClr val="69615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Font typeface="IBM Plex Sans"/>
              <a:buChar char="-"/>
            </a:pPr>
            <a:r>
              <a:rPr lang="en" sz="1200">
                <a:solidFill>
                  <a:srgbClr val="69615E"/>
                </a:solidFill>
                <a:latin typeface="Sora"/>
                <a:ea typeface="Sora"/>
                <a:cs typeface="Sora"/>
                <a:sym typeface="Sora"/>
              </a:rPr>
              <a:t>Are alarm dates starting earlier/later  in the year?</a:t>
            </a:r>
            <a:endParaRPr sz="1200">
              <a:solidFill>
                <a:srgbClr val="69615E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Font typeface="IBM Plex Sans"/>
              <a:buChar char="-"/>
            </a:pPr>
            <a:r>
              <a:rPr lang="en" sz="1200">
                <a:solidFill>
                  <a:srgbClr val="69615E"/>
                </a:solidFill>
                <a:latin typeface="Sora"/>
                <a:ea typeface="Sora"/>
                <a:cs typeface="Sora"/>
                <a:sym typeface="Sora"/>
              </a:rPr>
              <a:t>Have fire durations changed from 1800s to now?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baaf82ce8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abaaf82ce8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abaaf82ce8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abaaf82ce8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abaaf82ce8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abaaf82ce8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bb14cf7e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abb14cf7e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s.data.cnra.ca.gov/datasets/CALFIRE-Forestry::california-fire-perimeters-all/abou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337825" y="2797891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 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393425" y="4198191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ra"/>
                <a:ea typeface="Sora"/>
                <a:cs typeface="Sora"/>
                <a:sym typeface="Sora"/>
              </a:rPr>
              <a:t>Mariella and Natalia Avanni</a:t>
            </a:r>
            <a:endParaRPr sz="18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14" type="title"/>
          </p:nvPr>
        </p:nvSpPr>
        <p:spPr>
          <a:xfrm>
            <a:off x="488225" y="1140598"/>
            <a:ext cx="7171200" cy="13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dataset shows information on California  wildfires</a:t>
            </a:r>
            <a:r>
              <a:rPr lang="en" sz="1400"/>
              <a:t> from 1878 (limited data until 1900s) to the beginning of 2025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Current criteria for fires to be included in this dataset: perimeter ≥ 10 acres in timber, ≥50 acres in brush, ≥300 acres in grass, and/or ≥3 damaged/destroyed residential or commercial structures, and/or caused ≥1 fatality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* Note: criteria were modified in 1979, 1991, 1992, 2002, 2006, 2008, 2010</a:t>
            </a:r>
            <a:endParaRPr sz="1400"/>
          </a:p>
        </p:txBody>
      </p:sp>
      <p:sp>
        <p:nvSpPr>
          <p:cNvPr id="895" name="Google Shape;895;p52"/>
          <p:cNvSpPr txBox="1"/>
          <p:nvPr>
            <p:ph idx="2" type="title"/>
          </p:nvPr>
        </p:nvSpPr>
        <p:spPr>
          <a:xfrm>
            <a:off x="379175" y="457200"/>
            <a:ext cx="7709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California Fire Perimeters</a:t>
            </a:r>
            <a:endParaRPr/>
          </a:p>
        </p:txBody>
      </p:sp>
      <p:sp>
        <p:nvSpPr>
          <p:cNvPr id="896" name="Google Shape;896;p52"/>
          <p:cNvSpPr txBox="1"/>
          <p:nvPr>
            <p:ph idx="3" type="title"/>
          </p:nvPr>
        </p:nvSpPr>
        <p:spPr>
          <a:xfrm>
            <a:off x="379175" y="3055899"/>
            <a:ext cx="2801700" cy="266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Variables</a:t>
            </a:r>
            <a:endParaRPr sz="2000"/>
          </a:p>
        </p:txBody>
      </p:sp>
      <p:sp>
        <p:nvSpPr>
          <p:cNvPr id="897" name="Google Shape;897;p52"/>
          <p:cNvSpPr txBox="1"/>
          <p:nvPr>
            <p:ph idx="4" type="title"/>
          </p:nvPr>
        </p:nvSpPr>
        <p:spPr>
          <a:xfrm>
            <a:off x="4001100" y="3055899"/>
            <a:ext cx="2438100" cy="266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Audience</a:t>
            </a:r>
            <a:endParaRPr sz="2000"/>
          </a:p>
        </p:txBody>
      </p:sp>
      <p:sp>
        <p:nvSpPr>
          <p:cNvPr id="898" name="Google Shape;898;p52"/>
          <p:cNvSpPr txBox="1"/>
          <p:nvPr>
            <p:ph idx="1" type="body"/>
          </p:nvPr>
        </p:nvSpPr>
        <p:spPr>
          <a:xfrm>
            <a:off x="379175" y="3345424"/>
            <a:ext cx="3195000" cy="2337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Fire name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Agency and unit ID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Alarm and containment date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Cause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GIS calculated acres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Shape area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Shape length</a:t>
            </a:r>
            <a:endParaRPr sz="1400"/>
          </a:p>
        </p:txBody>
      </p:sp>
      <p:sp>
        <p:nvSpPr>
          <p:cNvPr id="899" name="Google Shape;899;p52"/>
          <p:cNvSpPr txBox="1"/>
          <p:nvPr>
            <p:ph idx="7" type="body"/>
          </p:nvPr>
        </p:nvSpPr>
        <p:spPr>
          <a:xfrm>
            <a:off x="4022099" y="3345424"/>
            <a:ext cx="2780700" cy="2337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General, educated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requirement to know about firefighting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Assume knowledge of common graph types</a:t>
            </a:r>
            <a:endParaRPr sz="1400"/>
          </a:p>
        </p:txBody>
      </p:sp>
      <p:sp>
        <p:nvSpPr>
          <p:cNvPr id="900" name="Google Shape;900;p52"/>
          <p:cNvSpPr txBox="1"/>
          <p:nvPr/>
        </p:nvSpPr>
        <p:spPr>
          <a:xfrm>
            <a:off x="6578401" y="4779125"/>
            <a:ext cx="2505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California Fire Perimeters (cnra.gov)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3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Trust</a:t>
            </a:r>
            <a:endParaRPr/>
          </a:p>
        </p:txBody>
      </p:sp>
      <p:sp>
        <p:nvSpPr>
          <p:cNvPr id="906" name="Google Shape;906;p53"/>
          <p:cNvSpPr txBox="1"/>
          <p:nvPr>
            <p:ph idx="2" type="title"/>
          </p:nvPr>
        </p:nvSpPr>
        <p:spPr>
          <a:xfrm>
            <a:off x="115025" y="1080700"/>
            <a:ext cx="2948400" cy="160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Data Story</a:t>
            </a:r>
            <a:r>
              <a:rPr lang="en" sz="1200"/>
              <a:t>: fire season in CA is getting longer and starting sooner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/>
              <a:t>Situational Context</a:t>
            </a:r>
            <a:r>
              <a:rPr lang="en" sz="1200"/>
              <a:t>: news article where it is expected reader will engage with the graph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200"/>
              <a:t>Design Features</a:t>
            </a:r>
            <a:r>
              <a:rPr lang="en" sz="1200"/>
              <a:t>: clear axes labels and legend, similar graph type and style to </a:t>
            </a:r>
            <a:r>
              <a:rPr lang="en" sz="1200"/>
              <a:t>other</a:t>
            </a:r>
            <a:r>
              <a:rPr lang="en" sz="1200"/>
              <a:t> reputable sources</a:t>
            </a:r>
            <a:endParaRPr sz="1200"/>
          </a:p>
        </p:txBody>
      </p:sp>
      <p:pic>
        <p:nvPicPr>
          <p:cNvPr id="907" name="Google Shape;907;p53" title="Screenshot 2025-12-03 at 7.19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888" y="424319"/>
            <a:ext cx="5907624" cy="2916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4"/>
          <p:cNvSpPr/>
          <p:nvPr/>
        </p:nvSpPr>
        <p:spPr>
          <a:xfrm>
            <a:off x="3282150" y="244025"/>
            <a:ext cx="2673600" cy="4668300"/>
          </a:xfrm>
          <a:prstGeom prst="rect">
            <a:avLst/>
          </a:prstGeom>
          <a:solidFill>
            <a:schemeClr val="lt1"/>
          </a:solidFill>
          <a:ln cap="flat" cmpd="sng" w="9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550" lIns="89550" spcFirstLastPara="1" rIns="89550" wrap="square" tIns="8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1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3" name="Google Shape;913;p54"/>
          <p:cNvSpPr txBox="1"/>
          <p:nvPr>
            <p:ph idx="1" type="subTitle"/>
          </p:nvPr>
        </p:nvSpPr>
        <p:spPr>
          <a:xfrm>
            <a:off x="3282138" y="237600"/>
            <a:ext cx="2673600" cy="4668300"/>
          </a:xfrm>
          <a:prstGeom prst="rect">
            <a:avLst/>
          </a:prstGeom>
        </p:spPr>
        <p:txBody>
          <a:bodyPr anchorCtr="0" anchor="ctr" bIns="91425" lIns="11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Takeaways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</a:rPr>
              <a:t>Scatterplot</a:t>
            </a:r>
            <a:r>
              <a:rPr lang="en" sz="1200">
                <a:solidFill>
                  <a:schemeClr val="dk1"/>
                </a:solidFill>
              </a:rPr>
              <a:t>: More fires recently than in 1900s. Concentration of fires more dense around middle of the year, but fire season is expanding past summer.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 u="sng">
                <a:solidFill>
                  <a:schemeClr val="dk1"/>
                </a:solidFill>
              </a:rPr>
              <a:t>Line graph: </a:t>
            </a:r>
            <a:r>
              <a:rPr lang="en" sz="1200">
                <a:solidFill>
                  <a:schemeClr val="dk1"/>
                </a:solidFill>
              </a:rPr>
              <a:t>Day of first fire per year has gotten earlier over time. Used to have first first in summer (ie April – October fire season), now extends throughout entire year.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14" name="Google Shape;914;p54" title="Screenshot 2025-12-03 at 4.57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12" y="2651437"/>
            <a:ext cx="2854226" cy="226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54" title="Screenshot 2025-12-03 at 4.58.0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313" y="244025"/>
            <a:ext cx="2854226" cy="2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5"/>
          <p:cNvSpPr txBox="1"/>
          <p:nvPr>
            <p:ph idx="13" type="title"/>
          </p:nvPr>
        </p:nvSpPr>
        <p:spPr>
          <a:xfrm>
            <a:off x="3670125" y="994288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Trickery</a:t>
            </a:r>
            <a:endParaRPr/>
          </a:p>
        </p:txBody>
      </p:sp>
      <p:sp>
        <p:nvSpPr>
          <p:cNvPr id="921" name="Google Shape;921;p55"/>
          <p:cNvSpPr txBox="1"/>
          <p:nvPr>
            <p:ph idx="1" type="body"/>
          </p:nvPr>
        </p:nvSpPr>
        <p:spPr>
          <a:xfrm>
            <a:off x="3670125" y="1864152"/>
            <a:ext cx="52020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Sora"/>
                <a:ea typeface="Sora"/>
                <a:cs typeface="Sora"/>
                <a:sym typeface="Sora"/>
              </a:rPr>
              <a:t>Data story</a:t>
            </a:r>
            <a:r>
              <a:rPr lang="en" sz="1500"/>
              <a:t>: the length of fires (measured from alarm date to containment date)  has decreased over time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*actually increased</a:t>
            </a:r>
            <a:endParaRPr sz="1500"/>
          </a:p>
        </p:txBody>
      </p:sp>
      <p:sp>
        <p:nvSpPr>
          <p:cNvPr id="922" name="Google Shape;922;p55"/>
          <p:cNvSpPr txBox="1"/>
          <p:nvPr>
            <p:ph idx="2" type="body"/>
          </p:nvPr>
        </p:nvSpPr>
        <p:spPr>
          <a:xfrm>
            <a:off x="3670125" y="2812852"/>
            <a:ext cx="52020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Sora"/>
                <a:ea typeface="Sora"/>
                <a:cs typeface="Sora"/>
                <a:sym typeface="Sora"/>
              </a:rPr>
              <a:t>Situational context: </a:t>
            </a:r>
            <a:r>
              <a:rPr lang="en" sz="1500"/>
              <a:t>news graphic, maybe in a social media post, intended to be glanced at briefly</a:t>
            </a:r>
            <a:endParaRPr sz="1500"/>
          </a:p>
        </p:txBody>
      </p:sp>
      <p:sp>
        <p:nvSpPr>
          <p:cNvPr id="923" name="Google Shape;923;p55"/>
          <p:cNvSpPr txBox="1"/>
          <p:nvPr>
            <p:ph idx="5" type="body"/>
          </p:nvPr>
        </p:nvSpPr>
        <p:spPr>
          <a:xfrm>
            <a:off x="3670125" y="3750752"/>
            <a:ext cx="5202000" cy="129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Sora"/>
                <a:ea typeface="Sora"/>
                <a:cs typeface="Sora"/>
                <a:sym typeface="Sora"/>
              </a:rPr>
              <a:t>Choices to evoke trust:</a:t>
            </a:r>
            <a:r>
              <a:rPr lang="en" sz="1500"/>
              <a:t> similar aesthetics to other graphs in news coverage about California wildfires (eg timeplot comparing across years), added context in the accompanying caption—transparency on data collection (provenance)</a:t>
            </a:r>
            <a:endParaRPr sz="1500"/>
          </a:p>
        </p:txBody>
      </p:sp>
      <p:pic>
        <p:nvPicPr>
          <p:cNvPr descr="California Have So Many Wildfires ..." id="924" name="Google Shape;92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00425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wildfire breaks out north of Los ..." id="925" name="Google Shape;92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619375" cy="17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lifornia wildfires ..." id="926" name="Google Shape;926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70021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6"/>
          <p:cNvSpPr/>
          <p:nvPr/>
        </p:nvSpPr>
        <p:spPr>
          <a:xfrm>
            <a:off x="217850" y="1168950"/>
            <a:ext cx="5357700" cy="3792900"/>
          </a:xfrm>
          <a:prstGeom prst="rect">
            <a:avLst/>
          </a:prstGeom>
          <a:solidFill>
            <a:schemeClr val="lt1"/>
          </a:solidFill>
          <a:ln cap="flat" cmpd="sng" w="9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550" lIns="89550" spcFirstLastPara="1" rIns="89550" wrap="square" tIns="8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1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2" name="Google Shape;932;p56"/>
          <p:cNvSpPr txBox="1"/>
          <p:nvPr>
            <p:ph idx="2" type="body"/>
          </p:nvPr>
        </p:nvSpPr>
        <p:spPr>
          <a:xfrm>
            <a:off x="5465275" y="486880"/>
            <a:ext cx="3566100" cy="43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Design</a:t>
            </a:r>
            <a:r>
              <a:rPr lang="en" sz="1300"/>
              <a:t> features</a:t>
            </a:r>
            <a:r>
              <a:rPr lang="en" sz="1300"/>
              <a:t> to deceive: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Inverted y axis violates convention of axes being upper right of cartesian plane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Assume higher on the plot = larger y-value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Log instead of linear scale exaggerates changes from year to year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Hard to interpret what is driving changes (are typical fires getting longer or are there more mega-events pulling the average?)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Red fill region (area) likely interpreted as additive rather than multiplicative (linear vs log scale), color associated with danger</a:t>
            </a:r>
            <a:endParaRPr sz="1300"/>
          </a:p>
        </p:txBody>
      </p:sp>
      <p:sp>
        <p:nvSpPr>
          <p:cNvPr id="933" name="Google Shape;933;p56"/>
          <p:cNvSpPr txBox="1"/>
          <p:nvPr>
            <p:ph idx="3" type="title"/>
          </p:nvPr>
        </p:nvSpPr>
        <p:spPr>
          <a:xfrm>
            <a:off x="115025" y="502775"/>
            <a:ext cx="3905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Trickery</a:t>
            </a:r>
            <a:endParaRPr/>
          </a:p>
        </p:txBody>
      </p:sp>
      <p:pic>
        <p:nvPicPr>
          <p:cNvPr id="934" name="Google Shape;934;p56" title="Screenshot 2025-12-03 at 5.41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97" y="1273354"/>
            <a:ext cx="5142086" cy="253900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56"/>
          <p:cNvSpPr txBox="1"/>
          <p:nvPr>
            <p:ph idx="2" type="body"/>
          </p:nvPr>
        </p:nvSpPr>
        <p:spPr>
          <a:xfrm>
            <a:off x="217900" y="3812350"/>
            <a:ext cx="5357700" cy="1023600"/>
          </a:xfrm>
          <a:prstGeom prst="rect">
            <a:avLst/>
          </a:prstGeom>
        </p:spPr>
        <p:txBody>
          <a:bodyPr anchorCtr="0" anchor="t" bIns="89550" lIns="89550" spcFirstLastPara="1" rIns="89550" wrap="square" tIns="89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Average duration of California wildfires, 1920-present (early 2025)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79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Duration measured from alarm to containment date. Fires whose alarm and containment dates were the same were counted as one day. Values reported from </a:t>
            </a:r>
            <a:r>
              <a:rPr lang="en" sz="1200">
                <a:solidFill>
                  <a:schemeClr val="dk1"/>
                </a:solidFill>
              </a:rPr>
              <a:t>Cal FIRE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7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Thank you!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